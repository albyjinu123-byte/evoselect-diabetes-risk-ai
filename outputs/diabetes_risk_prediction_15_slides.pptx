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t>HEALTHCARE ARTIFICIAL INTELLIGENCE RESEARCH MONOGRAPH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AI-Based Diabetes Risk Prediction Using Machine Learning &amp; Lifestyle Factors</a:t>
            </a:r>
          </a:p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A Multi-Cohort Empirical Evaluation Across 350,000+ Patient Records: Clinical Biomarker Ablation, Population Survey Stratification, Acute Symptom Triad &amp; Explainable AI (SHAP)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663440"/>
            <a:ext cx="32004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Arial"/>
              </a:defRPr>
            </a:pPr>
            <a:r>
              <a:t>350,000+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Total Patient Records &amp; Surveys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4663440"/>
            <a:ext cx="32004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0.9770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Peak ROC-AUC (Clinical LightGBM)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4663440"/>
            <a:ext cx="320040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475488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Arial"/>
              </a:defRPr>
            </a:pPr>
            <a:r>
              <a:t>+15.2%</a:t>
            </a:r>
          </a:p>
          <a:p>
            <a:pPr>
              <a:defRPr sz="1100">
                <a:solidFill>
                  <a:srgbClr val="E2E8F0"/>
                </a:solidFill>
                <a:latin typeface="Arial"/>
              </a:defRPr>
            </a:pPr>
            <a:r>
              <a:t>Diagnostic Value-Add of Biomarkers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21792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Standards: Strict Medical Leakage Prevention | Multi-Cohort Auditing | Calibrated Probability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BACKGROUND &amp; CLINICAL MOTIVATION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Clinical Problem Statement &amp; Epidemiological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02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134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13455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1. The Global Epidemic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537 Million Adults worldwide live with diabetes mellitus (IDF Atlas).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Projected to exceed 783 million by 2045 (a 46% surge).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Over 50% of people with type 2 diabetes are undiagnosed in early phases.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Annual global healthcare expenditure exceeds $966 Billion USD.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4134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1345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2. Asymptomatic Progression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Silent Pathophysiology: Glycemic dysregulation persists 5-10 years pre-diagnosis.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Microvascular Complications: Diabetic retinopathy, nephropathy, and peripheral neuropathy.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Macrovascular Risk: 2-3x elevated risk of myocardial infarction, stroke, and arterial disease.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Early lifestyle intervention stops 58% of prediabetes progression (DPP Trial).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4134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41345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00200"/>
            <a:ext cx="29562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3. The Screening Dilemma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Invasive Gold Standards: Fasting plasma glucose, HbA1c, OGTT require venous blood draws.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Logistical Bottlenecks: Laboratory cold chain, trained phlebotomists, patient compliance.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Arial"/>
              </a:defRPr>
            </a:pPr>
            <a:r>
              <a:t>•  The Machine Learning Opportunity: Can modifiable lifestyle surveys and symptom triage stratify risk accurately without immediate venipuncture?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DATA ARCHITECTURE &amp; MODALITIES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Multi-Cohort Data Architecture Across 350,000+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03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Inventory of Analyzed Healthcare Cohorts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6492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05840"/>
                <a:gridCol w="1097280"/>
                <a:gridCol w="2194560"/>
              </a:tblGrid>
              <a:tr h="6400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Cohort Name / File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Prevalence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Modality &amp; Features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Clinical &amp; Laboratory EHR</a:t>
                      </a:r>
                      <a:br/>
                      <a:r>
                        <a:t>(diabetes_prediction_dataset)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8.5% Diabetic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HbA1c, Blood Glucose, BMI, Age, Smoking, HTN, Heart Disease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CDC BRFSS Survey (Binary)</a:t>
                      </a:r>
                      <a:br/>
                      <a:r>
                        <a:t>(diabetes_binary_health)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253,680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13.9% Diabetic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21 Modifiable Lifestyle, Diet, Physical Activity, General Health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CDC BRFSS 50-50 Balanced</a:t>
                      </a:r>
                      <a:br/>
                      <a:r>
                        <a:t>(diabetes_binary_5050split)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70,692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50.0% Diabetic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Artificially balanced subsample for class imbalance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CDC BRFSS 3-Class Cohort</a:t>
                      </a:r>
                      <a:br/>
                      <a:r>
                        <a:t>(diabetes_012_health)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253,680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1.8% Prediabetes</a:t>
                      </a:r>
                      <a:br/>
                      <a:r>
                        <a:t>13.9% Diabetes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Multiclass separation: Healthy (84.2%) vs Prediabetes vs Diabetes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Early Symptoms (Sylhet)</a:t>
                      </a:r>
                      <a:br/>
                      <a:r>
                        <a:t>(diabetes_data_upload)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61.5% Diabetic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Acute hospital presentation: Polyuria, Polydipsia, Weight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1371600"/>
            <a:ext cx="368777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554480"/>
            <a:ext cx="32305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Strict Scientific Isolation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✔ Zero Naive Concatenation</a:t>
            </a:r>
          </a:p>
          <a:p>
            <a:pPr>
              <a:spcAft>
                <a:spcPts val="1000"/>
              </a:spcAft>
              <a:defRPr sz="1000">
                <a:solidFill>
                  <a:srgbClr val="1E293B"/>
                </a:solidFill>
              </a:defRPr>
            </a:pPr>
            <a:r>
              <a:t>Different cohorts represent fundamentally different modalities (telephonic survey vs. EHR lab draw vs. acute hospital triage). Concatenating them would cause catastrophic feature distortion.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✔ No Target Leakage</a:t>
            </a:r>
          </a:p>
          <a:p>
            <a:pPr>
              <a:spcAft>
                <a:spcPts val="1000"/>
              </a:spcAft>
              <a:defRPr sz="1000">
                <a:solidFill>
                  <a:srgbClr val="1E293B"/>
                </a:solidFill>
              </a:defRPr>
            </a:pPr>
            <a:r>
              <a:t>All transformers, imputers, and scalers are fitted exclusively within training cross-validation folds.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✔ Subsample Recognition</a:t>
            </a:r>
          </a:p>
          <a:p>
            <a:pPr>
              <a:spcAft>
                <a:spcPts val="1000"/>
              </a:spcAft>
              <a:defRPr sz="1000">
                <a:solidFill>
                  <a:srgbClr val="1E293B"/>
                </a:solidFill>
              </a:defRPr>
            </a:pPr>
            <a:r>
              <a:t>Recognizing that BRFSS 50-50 is derived from BRFSS full ensures it is never mistakenly used as an independent external validation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DATA HYGIENE &amp; FORENSIC AUDIT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Cryptographic Data Integrity Audit &amp; Cohort Deduplication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04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1. Exact Duplicate File Detection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MD5 Checksum: cb243b99d81d96e9aeb08944ce9ac066</a:t>
            </a:r>
            <a:br/>
            <a:r>
              <a:t>diabetes_prediction_dataset.csv and diabetes_prediction_dataset(1).csv were confirmed to be 100% byte-for-byte identical duplicates.</a:t>
            </a:r>
            <a:br/>
            <a:r>
              <a:t>Action: Excluded the duplicate file to prevent 100,000 double-counted rows and false sample size inflation.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6217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73152" cy="1508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2. CDC BRFSS Cohort Identity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diabetes_binary_health_indicators_BRFSS2015.csv and diabetes_012_health_indicators_BRFSS2015.csv share the exact same 253,680 respondents.</a:t>
            </a:r>
            <a:br/>
            <a:r>
              <a:t>Critical Finding: The binary dataset merged 4,631 prediabetic individuals into class 0 (healthy).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663440"/>
            <a:ext cx="6217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773168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</a:defRPr>
            </a:pPr>
            <a:r>
              <a:t>3. 50-50 Balanced Subsample Overlap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diabetes_binary_5050split (70,692 rows) is an undersampled subset containing 100% of diabetic respondents (35,346) and 35,346 balanced controls.</a:t>
            </a:r>
            <a:br/>
            <a:r>
              <a:t>Integrity Rule: Must NOT be treated as an external test set for BRFSS models.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371600"/>
            <a:ext cx="43278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5087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Target Distribution: Clinical EHR Cohort</a:t>
            </a:r>
          </a:p>
        </p:txBody>
      </p:sp>
      <p:pic>
        <p:nvPicPr>
          <p:cNvPr id="15" name="Picture 14" descr="clinical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011680"/>
            <a:ext cx="38404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EXPLORATORY DATA ANALYSIS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Exploratory Data Analysis &amp; Statistical Significance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05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Non-Parametric Statistical Hypothesis Profiling</a:t>
            </a:r>
          </a:p>
          <a:p>
            <a:pPr>
              <a:spcAft>
                <a:spcPts val="300"/>
              </a:spcAft>
              <a:defRPr sz="1150" b="1">
                <a:solidFill>
                  <a:srgbClr val="0284C7"/>
                </a:solidFill>
              </a:defRPr>
            </a:pPr>
            <a:r>
              <a:t>Clinical Biomarkers (100k EHR):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Mann-Whitney U Test: Diabetic HbA1c median is 6.6% vs. 5.8% in controls (p &lt; 1e-15).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Fasting Glucose: Median 160.0 mg/dL vs. 130.0 mg/dL (p &lt; 1e-15).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Age Association: Median age is 62.0 yrs in diabetics vs. 40.0 yrs in controls.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Smoking: Former smokers exhibit highest prevalence (17.0%), driven by age interaction.</a:t>
            </a:r>
          </a:p>
          <a:p>
            <a:pPr>
              <a:spcAft>
                <a:spcPts val="300"/>
              </a:spcAft>
              <a:defRPr sz="1150" b="1">
                <a:solidFill>
                  <a:srgbClr val="0284C7"/>
                </a:solidFill>
              </a:defRPr>
            </a:pPr>
            <a:r>
              <a:t>Lifestyle Habits (253k BRFSS):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General Health Perception (GenHlth): Strongest categorical association (Cramer's V = 0.299). Poor health = 38.4% prevalence vs. 2.1% in excellent.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High Blood Pressure (HighBP): Cramer's V = 0.263.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Physical Inactivity: Increases prevalence from 11.0% to 23.3%.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505937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508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Glycemic Biomarker Distributions by Diabetes Status</a:t>
            </a:r>
          </a:p>
        </p:txBody>
      </p:sp>
      <p:pic>
        <p:nvPicPr>
          <p:cNvPr id="8" name="Picture 7" descr="clinical_biomarker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466344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METHODOLOGY &amp; ARCHITECTURE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Leakage-Free Machine Learning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06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Step 1: Data Isolation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Strict Modality Partitioning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Survey vs Clinical vs Symptom cohorts isolated into separate pipelines.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Prevent cross-cohort contamination.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371600"/>
            <a:ext cx="2560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5603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Step 2: Fold-Level Transforms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Scikit-learn ColumnTransformer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StandardScaler for continuous variables.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OneHotEncoder / OrdinalEncoder for categoricals.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Fitted strictly inside training CV folds.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Step 3: Imbalance Handling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Cost-Sensitive Loss Formulations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Balanced class weights: w_j = N / (k * N_j).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Calibrated decision threshold tuning to boost sensitivity without sacrificing precision.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371600"/>
            <a:ext cx="2560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3716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60020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Step 4: Inference Engine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Calibrated Probability Engine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Platt Sigmoid / Isotonic probability calibration.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95% Wilson confidence intervals.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SHAP TreeExplainer feature attribution.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ALGORITHMS &amp; EXPERIMENTAL SETUP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Model Spectrum: 9 Machine Learning Architectures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07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Candidate Model Architectures &amp; Optimization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Parametric Baseline: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Logistic Regression (L2 regularization, balanced weights) — provides transparent clinical linear odds benchmark.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Tree Ensembles: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Decision Trees (max_depth=6), Random Forest (100 trees, bootstrap sampling), Extra Trees (extremely randomized splits).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Gradient Boosting: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HistGradientBoosting (binning-based), LightGBM (leaf-wise growth, GBDT), XGBoost (exact greedy splits).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Instance &amp; Kernel: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K-Nearest Neighbors (k=5, Euclidean distance), Support Vector Machine (RBF kernel, scaled gamma).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422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Comprehensive Clinical Evaluation Metrics</a:t>
            </a:r>
          </a:p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</a:defRPr>
            </a:pPr>
            <a:r>
              <a:t>Sensitivity (Recall):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Critical in screening. Missing a diabetic patient (False Negative) delays crucial intervention. High sensitivity is strictly prioritized.</a:t>
            </a:r>
          </a:p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</a:defRPr>
            </a:pPr>
            <a:r>
              <a:t>ROC-AUC &amp; PR-AUC: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Evaluates discrimination threshold-free. PR-AUC is especially vital on imbalanced cohorts (CDC BRFSS: 13.9% prevalence).</a:t>
            </a:r>
          </a:p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</a:defRPr>
            </a:pPr>
            <a:r>
              <a:t>Brier Score (Probability Calibration):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Mean squared error between predicted probability and binary outcome. Low Brier score = highly reliable patient probability.</a:t>
            </a:r>
          </a:p>
          <a:p>
            <a:pPr>
              <a:spcAft>
                <a:spcPts val="200"/>
              </a:spcAft>
              <a:defRPr sz="1150" b="1">
                <a:solidFill>
                  <a:srgbClr val="10B981"/>
                </a:solidFill>
              </a:defRPr>
            </a:pPr>
            <a:r>
              <a:t>Specificity &amp; Balanced Accuracy: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Ensures healthy individuals are not overwhelmed with false alarms and unnecessary clinical referrals.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EMPIRICAL BENCHMARKS: COHORT 1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Cohort 1 Benchmark: Clinical &amp; Laboratory EHR (100,000 Records)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08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Model Performance on Test Set (19,226 Patients)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822960"/>
                <a:gridCol w="77724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87.9%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0.8258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95.6%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0.9668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0.8594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0.0727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Extra Trees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0.8760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0.9655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0.8362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0.0778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0.9771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0.8802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0.0605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LightGBM (Selected)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0.8975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0.9770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0.8802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0.0236*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68.8%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1206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*Selected Architecture: LightGBM (Post-Calibration Brier 0.0236). Detects 92.1% of all diabetes cases while maintaining 94.4% specificity. False negative rate dropped to only 7.9%.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278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inical_best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08760"/>
            <a:ext cx="4069080" cy="34877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EMPIRICAL BENCHMARKS: COHORT 2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Cohort 2 Benchmark: CDC BRFSS Lifestyle Survey (253,680 Records)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09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Modifiable Lifestyle Model Performance (10,000 Test Set)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822960"/>
                <a:gridCol w="77724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73.0%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0.3903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0.1847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0.7126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71.8%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0.7869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0.3927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0.1892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68.5%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0.4009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0.1663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Extra Trees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0.7051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72.2%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0.7882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0.3865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0.1823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0.7151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74.2%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0.4057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0.1796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LightGBM (Balanced)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0.7168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74.5%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0.8046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0.4070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0.1080*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XGBoost (Unweighted)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0.8044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0.4035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0.1083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1206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Key Finding: Modifiable lifestyle indicators alone detect ~75% of diabetic patients with ZERO invasive testing or clinical laboratory infrastructure. Unweighted XGBoost failed (14.5% recall) due to natural 13.9% class imbalance.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278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fss_lifestyle_best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08760"/>
            <a:ext cx="4069080" cy="34877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EMPIRICAL BENCHMARKS: COHORT 3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Cohort 3 Benchmark: Early-Stage Acute Symptoms (520 Records)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10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Acute Symptom Screening Performance (104 Patients)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822960"/>
                <a:gridCol w="77724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Brier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0.9712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95.3%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0.9879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0.0271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Extra Trees (Selected)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0.9904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0.9996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0.9998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284C7"/>
                          </a:solidFill>
                        </a:defRPr>
                      </a:pPr>
                      <a:r>
                        <a:t>0.0098*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HistGradientBoosting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0.9808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96.9%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0.0144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Support Vector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95.3%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0.9998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</a:defRPr>
                      </a:pPr>
                      <a:r>
                        <a:t>0.0099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1206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75569"/>
                </a:solidFill>
              </a:defRPr>
            </a:pPr>
            <a:r>
              <a:t>Selected Model: Extra Trees Classifier (100% Sensitivity, 0.9996 ROC-AUC, 0.0098 Brier). The osmotic diuresis triad (Polyuria, Polydipsia, sudden weight loss) accounts for &gt;70% of feature attribution.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278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arly_symptoms_best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08760"/>
            <a:ext cx="4069080" cy="34877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CONTROLLED ABLATION EXPERIMENT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Scientific Ablation: Clinical Biomarkers vs. Lifestyle Habits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11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Controlled Experiment on Identical 19,226 Patients</a:t>
            </a:r>
          </a:p>
          <a:p>
            <a:pPr>
              <a:spcAft>
                <a:spcPts val="200"/>
              </a:spcAft>
              <a:defRPr sz="1200" b="1">
                <a:solidFill>
                  <a:srgbClr val="475569"/>
                </a:solidFill>
              </a:defRPr>
            </a:pPr>
            <a:r>
              <a:t>Mode A: Non-Invasive Lifestyle Only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Features: Age, Gender, BMI, Smoking History, Hypertension, Heart Disease.</a:t>
            </a:r>
            <a:br/>
            <a:r>
              <a:t>• Accuracy: 71.74% | Balanced Accuracy: 75.02%</a:t>
            </a:r>
            <a:br/>
            <a:r>
              <a:t>• Recall (Sensitivity): 79.01% (Misses 21.0% of cases)</a:t>
            </a:r>
            <a:br/>
            <a:r>
              <a:t>• ROC-AUC: 0.8247 | PR-AUC: 0.3095</a:t>
            </a:r>
            <a:br/>
            <a:r>
              <a:t>• Brier Score: 0.1751</a:t>
            </a:r>
          </a:p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Mode B: Full Clinical Model (+HbA1c &amp; Glucose)</a:t>
            </a:r>
          </a:p>
          <a:p>
            <a:pPr>
              <a:spcAft>
                <a:spcPts val="800"/>
              </a:spcAft>
              <a:defRPr sz="950">
                <a:solidFill>
                  <a:srgbClr val="1E293B"/>
                </a:solidFill>
              </a:defRPr>
            </a:pPr>
            <a:r>
              <a:t>Features: Above + HbA1c Level + Fasting Blood Glucose Level.</a:t>
            </a:r>
            <a:br/>
            <a:r>
              <a:t>• Accuracy: 89.95% | Balanced Accuracy: 90.63%</a:t>
            </a:r>
            <a:br/>
            <a:r>
              <a:t>• Recall (Sensitivity): 91.45% (Misses only 8.5% of cases)</a:t>
            </a:r>
            <a:br/>
            <a:r>
              <a:t>• ROC-AUC: 0.9771 | PR-AUC: 0.8806</a:t>
            </a:r>
            <a:br/>
            <a:r>
              <a:t>• Brier Score: 0.0606</a:t>
            </a:r>
          </a:p>
          <a:p>
            <a:pPr>
              <a:spcAft>
                <a:spcPts val="200"/>
              </a:spcAft>
              <a:defRPr sz="1100" b="1">
                <a:solidFill>
                  <a:srgbClr val="0284C7"/>
                </a:solidFill>
              </a:defRPr>
            </a:pPr>
            <a:r>
              <a:t>DIAGNOSTIC VALUE-ADD OF CLINICAL BIOMARKERS: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+15.2% Absolute Gain in ROC-AUC (0.825 -&gt; 0.977)</a:t>
            </a:r>
            <a:br/>
            <a:r>
              <a:t>+12.4% Absolute Gain in Recall Sensitivity (79.0% -&gt; 91.5%)</a:t>
            </a:r>
            <a:br/>
            <a:r>
              <a:t>-65.4% Relative Error Reduction in Brier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43278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nical_hba1c_gluco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08760"/>
            <a:ext cx="4069080" cy="30518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SPECIALIZED RESEARCH FINDINGS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Class Imbalance Dynamics &amp; The Prediabetes Detection Barrier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12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1. Class Imbalance in Population Surveys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Natural Prevalence Distortion: CDC BRFSS has 13.9% diabetes prevalence (86.1% healthy).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The XGBoost Collapse: Default unweighted objective converged to 84.96% accuracy by predicting majority class, yielding an abysmal 14.5% Sensitivity and 85.5% False Negative Rate!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Cost-Sensitive Recovery: Applying balanced class weights restored Sensitivity to 74.5% with 72.8% balanced accuracy.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2. The Prediabetes Distinguishability Challenge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In 3-Class CDC BRFSS (Diabetes_012), prediabetes accounts for only 1.8% of the population.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Prediabetes was virtually indistinguishable from healthy controls based on lifestyle questionnaires alone (Macro F1 ~0.42).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</a:defRPr>
            </a:pPr>
            <a:r>
              <a:t>• Clinical Lesson: Prediabetic glycemic dysregulation is asymptomatic. Non-invasive questionnaires alone cannot reliably detect early prediabetes without laboratory blood draws.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422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rfss_5050_balanced_best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4754880" cy="40756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EXPLAINABILITY &amp; INTERPRETABILITY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Explainable AI (XAI): SHAP Game-Theoretic Feature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13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TreeExplainer SHAP Attribution Across Modalities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Clinical Biomarkers Cohort: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HbA1c_level is the #1 global driver by an overwhelming margin.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SHAP shows steep non-linear risk escalation above HbA1c 6.5%.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blood_glucose_level is secondary driver, followed by Age and BMI.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CDC BRFSS Lifestyle Survey: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GenHlth (General Health Perception) is the strongest non-invasive predictor.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HighBP (Hypertension) and BMI represent major secondary contributors.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PhysActivity (sedentary lifestyle) demonstrates consistent positive risk attribution.</a:t>
            </a:r>
          </a:p>
          <a:p>
            <a:pPr>
              <a:spcAft>
                <a:spcPts val="200"/>
              </a:spcAft>
              <a:defRPr sz="1150" b="1">
                <a:solidFill>
                  <a:srgbClr val="0284C7"/>
                </a:solidFill>
              </a:defRPr>
            </a:pPr>
            <a:r>
              <a:t>Clinical Safety Disclaimer: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</a:defRPr>
            </a:pPr>
            <a:r>
              <a:t>• SHAP attributions represent statistical associations within retrospective cohorts and do NOT establish proven medical causation.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4225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inical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08760"/>
            <a:ext cx="4754880" cy="37868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SOFTWARE ENGINEERING &amp; DEPLOYMENT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Arial"/>
              </a:defRPr>
            </a:pPr>
            <a:r>
              <a:t>Interactive Web Dashboard &amp; Clinical Decision Support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365760"/>
            <a:ext cx="1371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75569"/>
                </a:solidFill>
                <a:latin typeface="Arial"/>
              </a:defRPr>
            </a:pPr>
            <a:r>
              <a:t>SLIDE 14 /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1. Multi-Cohort Explorer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Interactive dataset viewer across 6 cohorts.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Feature distribution plots &amp; correlation matrices.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Cryptographic MD5 hash verification panel.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371600"/>
            <a:ext cx="2560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5603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2. Multi-Mode Risk Portal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Live Patient Risk Assessment.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Mode 1: Clinical laboratory input.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Mode 2: BRFSS Lifestyle survey input.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Mode 3: Acute symptom triage.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Outputs calibrated probabilities &amp; 95% CIs.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560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56032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3. Model Benchmarks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Interactive ROC &amp; Precision-Recall curves.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Confusion matrices with cutoff threshold sliders.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Calibration curve reliability visualizer.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1371600"/>
            <a:ext cx="2560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37160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60020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</a:defRPr>
            </a:pPr>
            <a:r>
              <a:t>4. Explainable AI &amp; Monograph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Patient-level local waterfall attribution.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Global beeswarm &amp; feature importance.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• Direct PDF &amp; CSV research report downloads.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CLINICAL GOVERNANCE &amp; FUTURE 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Clinical Governance, Scientific Limitations &amp; Future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13455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1345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1. Critical Medical Limitations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Retrospective vs. Future Risk: Models predict retrospective classification concordance, NOT prospective future disease incidence.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Cross-Sectional Observational Data: Lacks multi-year longitudinal follow-up.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Self-Report Bias: CDC BRFSS relies on telephonic surveys, subject to recall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413455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1345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2. Ethical Framework &amp; Privacy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Research Prototype Only: NOT a certified medical diagnostic device.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Zero Automated Diagnosis: Serves solely as an educational risk stratification aid.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Data Privacy: Zero patient information transmitted to cloud or external APIs; all computation executed locally.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413455" cy="4846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41345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476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</a:defRPr>
            </a:pPr>
            <a:r>
              <a:t>3. Future Research Directions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Prospective Longitudinal Cohort Tracking: Evaluating 5-year incident risk.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Continuous Glucose Monitoring (CGM): Integration of continuous glycemic time-series.</a:t>
            </a:r>
          </a:p>
          <a:p>
            <a:pPr>
              <a:spcAft>
                <a:spcPts val="1000"/>
              </a:spcAft>
              <a:defRPr sz="1100">
                <a:solidFill>
                  <a:srgbClr val="CBD5E1"/>
                </a:solidFill>
              </a:defRPr>
            </a:pPr>
            <a:r>
              <a:t>• Edge &amp; Mobile Health Deployment: Offline mobile screening apps for low-resource settings.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